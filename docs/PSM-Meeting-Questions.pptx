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7" d="100"/>
          <a:sy n="147" d="100"/>
        </p:scale>
        <p:origin x="7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A4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7C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" y="137160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4262C"/>
                </a:solidFill>
                <a:latin typeface="Segoe UI"/>
              </a:rPr>
              <a:t>QUESTIONS FOR THE PSM COORDINATOR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965960"/>
            <a:ext cx="1033272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42424"/>
                </a:solidFill>
                <a:latin typeface="Segoe UI"/>
              </a:rPr>
              <a:t>Streamlining PSM Assessment: A Centralized Milestone and Evaluation Platform For FSKTM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4224528"/>
            <a:ext cx="2011680" cy="38100"/>
          </a:xfrm>
          <a:prstGeom prst="rect">
            <a:avLst/>
          </a:prstGeom>
          <a:solidFill>
            <a:srgbClr val="A4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4526280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A5A5A"/>
                </a:solidFill>
                <a:latin typeface="Segoe UI"/>
              </a:rPr>
              <a:t>A web-based management ecosystem designed to eliminate administrative friction and digitize final year project workflows at FSKTM.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80644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</a:rPr>
              <a:t>Prepared for Norfaradilla Binti Wahid  ·  FSKTM PSM Coordinator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4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4262C"/>
                </a:solidFill>
                <a:latin typeface="Segoe UI"/>
              </a:rPr>
              <a:t>QUESTION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82009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42424"/>
                </a:solidFill>
                <a:latin typeface="Segoe UI"/>
              </a:rPr>
              <a:t>What happens when a deadline is missed?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938528"/>
            <a:ext cx="10820095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212848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4262C"/>
                </a:solidFill>
                <a:latin typeface="Segoe UI"/>
              </a:rPr>
              <a:t>THE SYSTEM CURRENTLY ASSUMES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06040"/>
            <a:ext cx="10820095" cy="6824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9400" indent="-279400" algn="l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 i="0" dirty="0">
                <a:solidFill>
                  <a:srgbClr val="242424"/>
                </a:solidFill>
                <a:latin typeface="Segoe UI"/>
              </a:rPr>
              <a:t>•   A submission inside the late window is accepted, and flagged as late</a:t>
            </a:r>
          </a:p>
          <a:p>
            <a:pPr marL="279400" indent="-279400" algn="l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 i="0" dirty="0">
                <a:solidFill>
                  <a:srgbClr val="242424"/>
                </a:solidFill>
                <a:latin typeface="Segoe UI"/>
              </a:rPr>
              <a:t>•   After the window closes, submission is refused — the student must ask the coordinator for an extension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029200"/>
            <a:ext cx="10820095" cy="1170432"/>
          </a:xfrm>
          <a:prstGeom prst="rect">
            <a:avLst/>
          </a:prstGeom>
          <a:solidFill>
            <a:srgbClr val="FB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5029200"/>
            <a:ext cx="50800" cy="1170432"/>
          </a:xfrm>
          <a:prstGeom prst="rect">
            <a:avLst/>
          </a:prstGeom>
          <a:solidFill>
            <a:srgbClr val="A4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5184648"/>
            <a:ext cx="1031717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A4262C"/>
                </a:solidFill>
                <a:latin typeface="Segoe UI"/>
              </a:rPr>
              <a:t>WHAT I NEED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42424"/>
                </a:solidFill>
                <a:latin typeface="Segoe UI"/>
              </a:rPr>
              <a:t>Is there a penalty for a late submission, and if so who applies it? The system records lateness but deliberately does not deduct marks.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Segoe UI"/>
              </a:rPr>
              <a:t>PSM Coordinator Meeting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4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4262C"/>
                </a:solidFill>
                <a:latin typeface="Segoe UI"/>
              </a:rPr>
              <a:t>QUESTION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82009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42424"/>
                </a:solidFill>
                <a:latin typeface="Segoe UI"/>
              </a:rPr>
              <a:t>How does a milestone get approved?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938528"/>
            <a:ext cx="10820095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212848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4262C"/>
                </a:solidFill>
                <a:latin typeface="Segoe UI"/>
              </a:rPr>
              <a:t>THE SYSTEM CURRENTLY ASSUMES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06040"/>
            <a:ext cx="10820095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9400" indent="-279400" algn="l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 i="0">
                <a:solidFill>
                  <a:srgbClr val="242424"/>
                </a:solidFill>
                <a:latin typeface="Segoe UI"/>
              </a:rPr>
              <a:t>•   The cycle is: Pending → Open → Submitted → Reviewed → Approved</a:t>
            </a:r>
          </a:p>
          <a:p>
            <a:pPr marL="279400" indent="-279400" algn="l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 i="0">
                <a:solidFill>
                  <a:srgbClr val="242424"/>
                </a:solidFill>
                <a:latin typeface="Segoe UI"/>
              </a:rPr>
              <a:t>•   Two exits: Rejected, which sends it back for a numbered revision; and Overdue, when the deadline passes with nothing submitted</a:t>
            </a:r>
          </a:p>
          <a:p>
            <a:pPr marL="279400" indent="-279400" algn="l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 i="0">
                <a:solidFill>
                  <a:srgbClr val="242424"/>
                </a:solidFill>
                <a:latin typeface="Segoe UI"/>
              </a:rPr>
              <a:t>•   The supervisor reviews it, and the student may withdraw a file only while the milestone is still submitted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029200"/>
            <a:ext cx="10820095" cy="1170432"/>
          </a:xfrm>
          <a:prstGeom prst="rect">
            <a:avLst/>
          </a:prstGeom>
          <a:solidFill>
            <a:srgbClr val="FB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5029200"/>
            <a:ext cx="50800" cy="1170432"/>
          </a:xfrm>
          <a:prstGeom prst="rect">
            <a:avLst/>
          </a:prstGeom>
          <a:solidFill>
            <a:srgbClr val="A4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5184648"/>
            <a:ext cx="10317175" cy="4507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dirty="0">
                <a:solidFill>
                  <a:srgbClr val="A4262C"/>
                </a:solidFill>
                <a:latin typeface="Segoe UI"/>
              </a:rPr>
              <a:t>WHAT I NEED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242424"/>
                </a:solidFill>
                <a:latin typeface="Segoe UI"/>
              </a:rPr>
              <a:t>Who approves a chapter — the supervisor alone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Segoe UI"/>
              </a:rPr>
              <a:t>PSM Coordinator Meeting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4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4262C"/>
                </a:solidFill>
                <a:latin typeface="Segoe UI"/>
              </a:rPr>
              <a:t>QUESTION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42424"/>
                </a:solidFill>
                <a:latin typeface="Segoe UI"/>
              </a:rPr>
              <a:t>What does each assessor mark?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393953"/>
              </p:ext>
            </p:extLst>
          </p:nvPr>
        </p:nvGraphicFramePr>
        <p:xfrm>
          <a:off x="1005840" y="2011680"/>
          <a:ext cx="950976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marL="128016" anchor="ctr">
                    <a:solidFill>
                      <a:srgbClr val="A426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Assessed by</a:t>
                      </a:r>
                    </a:p>
                  </a:txBody>
                  <a:tcPr marL="128016" anchor="ctr">
                    <a:solidFill>
                      <a:srgbClr val="A426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Weight</a:t>
                      </a:r>
                    </a:p>
                  </a:txBody>
                  <a:tcPr marL="128016" anchor="ctr">
                    <a:solidFill>
                      <a:srgbClr val="A426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42424"/>
                          </a:solidFill>
                          <a:latin typeface="Segoe UI"/>
                        </a:rPr>
                        <a:t>Lampiran E</a:t>
                      </a: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42424"/>
                          </a:solidFill>
                          <a:latin typeface="Segoe UI"/>
                        </a:rPr>
                        <a:t>Supervisor — PSM 1</a:t>
                      </a: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A4262C"/>
                          </a:solidFill>
                          <a:latin typeface="Segoe UI"/>
                        </a:rPr>
                        <a:t>35</a:t>
                      </a: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42424"/>
                          </a:solidFill>
                          <a:latin typeface="Segoe UI"/>
                        </a:rPr>
                        <a:t>Lampiran I</a:t>
                      </a:r>
                    </a:p>
                  </a:txBody>
                  <a:tcPr marL="128016" anchor="ctr">
                    <a:solidFill>
                      <a:srgbClr val="FB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dirty="0">
                          <a:solidFill>
                            <a:srgbClr val="242424"/>
                          </a:solidFill>
                          <a:latin typeface="Segoe UI"/>
                        </a:rPr>
                        <a:t>Examiner — </a:t>
                      </a:r>
                      <a:r>
                        <a:rPr lang="en-US" sz="1350" b="0" dirty="0">
                          <a:solidFill>
                            <a:srgbClr val="242424"/>
                          </a:solidFill>
                          <a:latin typeface="Segoe UI"/>
                        </a:rPr>
                        <a:t>PSM</a:t>
                      </a:r>
                      <a:r>
                        <a:rPr sz="1350" b="0" dirty="0">
                          <a:solidFill>
                            <a:srgbClr val="242424"/>
                          </a:solidFill>
                          <a:latin typeface="Segoe UI"/>
                        </a:rPr>
                        <a:t> 1</a:t>
                      </a:r>
                    </a:p>
                  </a:txBody>
                  <a:tcPr marL="128016" anchor="ctr">
                    <a:solidFill>
                      <a:srgbClr val="FB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A4262C"/>
                          </a:solidFill>
                          <a:latin typeface="Segoe UI"/>
                        </a:rPr>
                        <a:t>30</a:t>
                      </a:r>
                    </a:p>
                  </a:txBody>
                  <a:tcPr marL="128016" anchor="ctr">
                    <a:solidFill>
                      <a:srgbClr val="FB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42424"/>
                          </a:solidFill>
                          <a:latin typeface="Segoe UI"/>
                        </a:rPr>
                        <a:t>Lampiran G</a:t>
                      </a: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42424"/>
                          </a:solidFill>
                          <a:latin typeface="Segoe UI"/>
                        </a:rPr>
                        <a:t>Supervisor — PSM 2</a:t>
                      </a: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A4262C"/>
                          </a:solidFill>
                          <a:latin typeface="Segoe UI"/>
                        </a:rPr>
                        <a:t>50</a:t>
                      </a: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42424"/>
                          </a:solidFill>
                          <a:latin typeface="Segoe UI"/>
                        </a:rPr>
                        <a:t>Lampiran H</a:t>
                      </a:r>
                    </a:p>
                  </a:txBody>
                  <a:tcPr marL="128016" anchor="ctr">
                    <a:solidFill>
                      <a:srgbClr val="FB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42424"/>
                          </a:solidFill>
                          <a:latin typeface="Segoe UI"/>
                        </a:rPr>
                        <a:t>Supervisor — progress report</a:t>
                      </a:r>
                    </a:p>
                  </a:txBody>
                  <a:tcPr marL="128016" anchor="ctr">
                    <a:solidFill>
                      <a:srgbClr val="FB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A4262C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28016" anchor="ctr">
                    <a:solidFill>
                      <a:srgbClr val="FB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42424"/>
                          </a:solidFill>
                          <a:latin typeface="Segoe UI"/>
                        </a:rPr>
                        <a:t>Lampiran J</a:t>
                      </a: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42424"/>
                          </a:solidFill>
                          <a:latin typeface="Segoe UI"/>
                        </a:rPr>
                        <a:t>Examiner — final seminar</a:t>
                      </a: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dirty="0">
                          <a:solidFill>
                            <a:srgbClr val="A4262C"/>
                          </a:solidFill>
                          <a:latin typeface="Segoe UI"/>
                        </a:rPr>
                        <a:t>40</a:t>
                      </a: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05840" y="4645152"/>
            <a:ext cx="9509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5A5A"/>
                </a:solidFill>
                <a:latin typeface="Segoe UI"/>
              </a:rPr>
              <a:t>PSM 1 totals 65  ·  PSM 2 totals 95 — the remainder is marked outside the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138928"/>
            <a:ext cx="10820095" cy="1060704"/>
          </a:xfrm>
          <a:prstGeom prst="rect">
            <a:avLst/>
          </a:prstGeom>
          <a:solidFill>
            <a:srgbClr val="FB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5138928"/>
            <a:ext cx="50800" cy="1060704"/>
          </a:xfrm>
          <a:prstGeom prst="rect">
            <a:avLst/>
          </a:prstGeom>
          <a:solidFill>
            <a:srgbClr val="A4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5285232"/>
            <a:ext cx="103171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A4262C"/>
                </a:solidFill>
                <a:latin typeface="Segoe UI"/>
              </a:rPr>
              <a:t>WHAT I NEED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42424"/>
                </a:solidFill>
                <a:latin typeface="Segoe UI"/>
              </a:rPr>
              <a:t>Are these the current forms and weights, and does each assessor mark only their own students?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Segoe UI"/>
              </a:rPr>
              <a:t>PSM Coordinator Meeting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4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4262C"/>
                </a:solidFill>
                <a:latin typeface="Segoe UI"/>
              </a:rPr>
              <a:t>QUESTION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82009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42424"/>
                </a:solidFill>
                <a:latin typeface="Segoe UI"/>
              </a:rPr>
              <a:t>What happens to a student who does not submit, or submits late?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938528"/>
            <a:ext cx="10820095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212848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4262C"/>
                </a:solidFill>
                <a:latin typeface="Segoe UI"/>
              </a:rPr>
              <a:t>THE SYSTEM CURRENTLY ASSUMES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06040"/>
            <a:ext cx="10820095" cy="6824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9400" indent="-279400" algn="l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 i="0" dirty="0">
                <a:solidFill>
                  <a:srgbClr val="242424"/>
                </a:solidFill>
                <a:latin typeface="Segoe UI"/>
              </a:rPr>
              <a:t>•   A milestone that passes its deadline becomes overdue</a:t>
            </a:r>
          </a:p>
          <a:p>
            <a:pPr marL="279400" indent="-279400" algn="l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 i="0" dirty="0">
                <a:solidFill>
                  <a:srgbClr val="242424"/>
                </a:solidFill>
                <a:latin typeface="Segoe UI"/>
              </a:rPr>
              <a:t>•   A student with no submission receives no supervisor mark at all, rather than a zero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029200"/>
            <a:ext cx="10820095" cy="1170432"/>
          </a:xfrm>
          <a:prstGeom prst="rect">
            <a:avLst/>
          </a:prstGeom>
          <a:solidFill>
            <a:srgbClr val="FB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5029200"/>
            <a:ext cx="50800" cy="1170432"/>
          </a:xfrm>
          <a:prstGeom prst="rect">
            <a:avLst/>
          </a:prstGeom>
          <a:solidFill>
            <a:srgbClr val="A4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5184648"/>
            <a:ext cx="1031717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A4262C"/>
                </a:solidFill>
                <a:latin typeface="Segoe UI"/>
              </a:rPr>
              <a:t>WHAT I NEED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42424"/>
                </a:solidFill>
                <a:latin typeface="Segoe UI"/>
              </a:rPr>
              <a:t>What is the real consequence of non-submission, and at what point does a student fail, repeat, or withdraw?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Segoe UI"/>
              </a:rPr>
              <a:t>PSM Coordinator Meeting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4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4262C"/>
                </a:solidFill>
                <a:latin typeface="Segoe UI"/>
              </a:rPr>
              <a:t>QUESTION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82009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42424"/>
                </a:solidFill>
                <a:latin typeface="Segoe UI"/>
              </a:rPr>
              <a:t>Does the system need to produce anything for the faculty?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938528"/>
            <a:ext cx="10820095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212848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4262C"/>
                </a:solidFill>
                <a:latin typeface="Segoe UI"/>
              </a:rPr>
              <a:t>THE SYSTEM CURRENTLY ASSUMES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06040"/>
            <a:ext cx="10820095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9400" indent="-279400" algn="l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 i="0">
                <a:solidFill>
                  <a:srgbClr val="242424"/>
                </a:solidFill>
                <a:latin typeface="Segoe UI"/>
              </a:rPr>
              <a:t>•   It can export reports as CSV: supervisor workload, panel workload, and cohort progress</a:t>
            </a:r>
          </a:p>
          <a:p>
            <a:pPr marL="279400" indent="-279400" algn="l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 i="0">
                <a:solidFill>
                  <a:srgbClr val="242424"/>
                </a:solidFill>
                <a:latin typeface="Segoe UI"/>
              </a:rPr>
              <a:t>•   It keeps an audit log of who did what, retained for seven years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029200"/>
            <a:ext cx="10820095" cy="1170432"/>
          </a:xfrm>
          <a:prstGeom prst="rect">
            <a:avLst/>
          </a:prstGeom>
          <a:solidFill>
            <a:srgbClr val="FB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5029200"/>
            <a:ext cx="50800" cy="1170432"/>
          </a:xfrm>
          <a:prstGeom prst="rect">
            <a:avLst/>
          </a:prstGeom>
          <a:solidFill>
            <a:srgbClr val="A4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5184648"/>
            <a:ext cx="1031717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A4262C"/>
                </a:solidFill>
                <a:latin typeface="Segoe UI"/>
              </a:rPr>
              <a:t>WHAT I NEED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42424"/>
                </a:solidFill>
                <a:latin typeface="Segoe UI"/>
              </a:rPr>
              <a:t>Is there a report the faculty must produce each semester — accreditation, pass rates, workload — that the system should match?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Segoe UI"/>
              </a:rPr>
              <a:t>PSM Coordinator Meeting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4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4262C"/>
                </a:solidFill>
                <a:latin typeface="Segoe UI"/>
              </a:rPr>
              <a:t>QUESTION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82009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42424"/>
                </a:solidFill>
                <a:latin typeface="Segoe UI"/>
              </a:rPr>
              <a:t>What is the current process pain point?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938528"/>
            <a:ext cx="10820095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212848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4262C"/>
                </a:solidFill>
                <a:latin typeface="Segoe UI"/>
              </a:rPr>
              <a:t>THE SYSTEM CURRENTLY ASSUMES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06040"/>
            <a:ext cx="10820095" cy="6824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9400" indent="-279400" algn="l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 i="0" dirty="0">
                <a:solidFill>
                  <a:srgbClr val="242424"/>
                </a:solidFill>
                <a:latin typeface="Segoe UI"/>
              </a:rPr>
              <a:t>•   The system assumes the biggest friction is knowing which student is at which stage</a:t>
            </a:r>
          </a:p>
          <a:p>
            <a:pPr marL="279400" indent="-279400" algn="l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 i="0" dirty="0">
                <a:solidFill>
                  <a:srgbClr val="242424"/>
                </a:solidFill>
                <a:latin typeface="Segoe UI"/>
              </a:rPr>
              <a:t>•   That assumption shaped what was built: milestone tracking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029200"/>
            <a:ext cx="10820095" cy="1170432"/>
          </a:xfrm>
          <a:prstGeom prst="rect">
            <a:avLst/>
          </a:prstGeom>
          <a:solidFill>
            <a:srgbClr val="FB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5029200"/>
            <a:ext cx="50800" cy="1170432"/>
          </a:xfrm>
          <a:prstGeom prst="rect">
            <a:avLst/>
          </a:prstGeom>
          <a:solidFill>
            <a:srgbClr val="A4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5184648"/>
            <a:ext cx="1031717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A4262C"/>
                </a:solidFill>
                <a:latin typeface="Segoe UI"/>
              </a:rPr>
              <a:t>WHAT I NEED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42424"/>
                </a:solidFill>
                <a:latin typeface="Segoe UI"/>
              </a:rPr>
              <a:t>Which part of running PSM causes the most difficulty today? This answer is worth more than every assumption on the slides before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Segoe UI"/>
              </a:rPr>
              <a:t>PSM Coordinator Meeting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528</Words>
  <Application>Microsoft Office PowerPoint</Application>
  <PresentationFormat>Widescreen</PresentationFormat>
  <Paragraphs>75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岳兴 陈</cp:lastModifiedBy>
  <cp:revision>2</cp:revision>
  <dcterms:created xsi:type="dcterms:W3CDTF">2013-01-27T09:14:16Z</dcterms:created>
  <dcterms:modified xsi:type="dcterms:W3CDTF">2026-10-11T12:16:31Z</dcterms:modified>
  <cp:category/>
</cp:coreProperties>
</file>